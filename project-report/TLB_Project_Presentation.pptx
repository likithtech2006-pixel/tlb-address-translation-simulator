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1539267-55a9-c08a-ae2a-0d310b74e246}">
          <p14:sldIdLst>
            <p14:sldId id="256"/>
          </p14:sldIdLst>
        </p14:section>
        <p14:section name="Problem and objectives" id="{12565258-90e6-d51e-4d78-530e1226d7e2}">
          <p14:sldIdLst>
            <p14:sldId id="257"/>
            <p14:sldId id="258"/>
          </p14:sldIdLst>
        </p14:section>
        <p14:section name="System design" id="{0463957a-99a8-1db1-ca6e-43fa5997af1e}">
          <p14:sldIdLst>
            <p14:sldId id="259"/>
            <p14:sldId id="260"/>
            <p14:sldId id="261"/>
            <p14:sldId id="262"/>
          </p14:sldIdLst>
        </p14:section>
        <p14:section name="Algorithm and implementation" id="{d10d0274-36ee-ce57-05c1-60958a385176}">
          <p14:sldIdLst>
            <p14:sldId id="263"/>
            <p14:sldId id="264"/>
          </p14:sldIdLst>
        </p14:section>
        <p14:section name="Screenshots and results" id="{c167aaf9-fc88-b770-6972-f9bd7a3946da}">
          <p14:sldIdLst>
            <p14:sldId id="265"/>
            <p14:sldId id="266"/>
            <p14:sldId id="267"/>
            <p14:sldId id="268"/>
          </p14:sldIdLst>
        </p14:section>
        <p14:section name="Testing and validation" id="{1c4061ed-3132-2fa8-db7c-2b2bdba9a6d5}">
          <p14:sldIdLst>
            <p14:sldId id="269"/>
          </p14:sldIdLst>
        </p14:section>
        <p14:section name="Demo and conclusion" id="{0d768062-e202-3016-915e-97770571a7ce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3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320"/>
                </a:solidFill>
                <a:latin typeface="+mn-lt"/>
              </a:rPr>
              <a:t>Hit ratio (%) on Belady's string vs TLB entries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FIFO</c:v>
                </c:pt>
              </c:strCache>
            </c:strRef>
          </c:tx>
          <c:spPr>
            <a:solidFill>
              <a:srgbClr val="DC2626"/>
            </a:solidFill>
            <a:ln w="381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25</c:v>
                </c:pt>
                <c:pt idx="3">
                  <c:v>16.7</c:v>
                </c:pt>
                <c:pt idx="4">
                  <c:v>58.3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LRU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16.7</c:v>
                </c:pt>
                <c:pt idx="3">
                  <c:v>33.3</c:v>
                </c:pt>
                <c:pt idx="4">
                  <c:v>58.3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8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25</c:v>
                </c:pt>
                <c:pt idx="2">
                  <c:v>41.7</c:v>
                </c:pt>
                <c:pt idx="3">
                  <c:v>50</c:v>
                </c:pt>
                <c:pt idx="4">
                  <c:v>58.3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334155"/>
                    </a:solidFill>
                    <a:latin typeface="Arial"/>
                  </a:rPr>
                  <a:t>TLB entries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a simulator of the memory-management unit that converts virtual addresses to physical addresses using a TLB. The boxes on the right show the core idea: address 300 splits into page 1 and offset 44.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translation is needed, why the TLB exists, and that the process is invisible to students. Then read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objectives, from translating a single address up to comparing policies and proving correctness.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layers top to bottom. Stress the design decision: every action is stored as an operation and replayed through a deterministic engine, which gives rewind and what-if replay for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one address through the flowchart: range check, split, TLB lookup, then either the hit path or the miss path with a page walk, possibly a page fault, then the permission check and the physical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students and teachers can do. Right: the classes of the Python implementation. MMU owns the TLB entries, the page-table entries and the log of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message flow. The alt frame is the key: on a hit the TLB answers directly; on a miss the engine walks the page table and inserts the result into the TLB.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pseudocode line by line, then point at the formulas on the right. The worked example: 300 splits into page 1 and offset 44, so PA = 1 × 256 + 44 = 300.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logic was built twice: a Python command-line simulator that meets the C/C++/Java/Python requirement, and the interactive web app used in the demo. Both give identical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Translate page for VA 300, showing the bit-level view and the datapath. Right: the Timeline page with the trace, the logic-analyzer lanes and the event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Structures shows the TLB ways, page table and frames. Analytics shows the indicators and the EAT calculator. The policy lab compares six policies at seven TLB sizes.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output of python3 tlb_sim.py. Point at the miss then hit for 300, the page fault for 0x1A2B, the LRU eviction of page 4 at T = 9, and the summary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numbers, then the chart. FIFO's hit ratio drops from 25 % to 16.7 % when the TLB grows from 3 to 4 entries: Belady's anomaly. LRU and OPT never get worse with more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kinds of evidence: unit tests with textbook answers, the large JavaScript suite, and the fact that two independent implementations agree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these six steps in the live demo. Start the server first with the command at the bottom, and press Factory reset on the Machine page so the numbers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was achieved and the key numbers, then list the future enhancements.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sources for the concepts, formulas and test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B9D8D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TLB Address Translation Simulator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</a:rPr>
              <a:t>OPERATING SYSTEMS  ·  MODULE 5: MEMORY MANAGEMENT  ·  MINI PROJECT #45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TLB Address Translation Simulator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9D8D4"/>
                </a:solidFill>
              </a:rPr>
              <a:t>An interactive approach to virtual-to-physical translation and TLB performance analysis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Submitted by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 V Sai Likith  (24BCI0174)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M V S Sujan  (24BCE2294)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5120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Shrijit  (24BCE2469)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Rajnihil  (24BCT0191)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1783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 300</a:t>
            </a:r>
            <a:endParaRPr lang="en-US" sz="1800" dirty="0"/>
          </a:p>
        </p:txBody>
      </p:sp>
      <p:sp>
        <p:nvSpPr>
          <p:cNvPr id="9" name="vpn-box"/>
          <p:cNvSpPr/>
          <p:nvPr/>
        </p:nvSpPr>
        <p:spPr>
          <a:xfrm>
            <a:off x="7909560" y="2286000"/>
            <a:ext cx="1828800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offset-box"/>
          <p:cNvSpPr/>
          <p:nvPr/>
        </p:nvSpPr>
        <p:spPr>
          <a:xfrm>
            <a:off x="9829800" y="2286000"/>
            <a:ext cx="1828800" cy="1143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09560" y="23317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VPN</a:t>
            </a:r>
            <a:endParaRPr lang="en-US" sz="15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829800" y="23317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OFFSET</a:t>
            </a:r>
            <a:endParaRPr lang="en-US" sz="15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44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D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0000 0001  0010 1100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4023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TLB HIT  →  PA 300  ·  110 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Paging: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every virtual address is split into a page number (VPN) and an offset; the page table maps the VPN to a frame (PFN).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Cost: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the page table is in RAM, so each access needs an extra memory read, or k extra reads for a k-level table.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TLB: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a small, fast cache of recent translations removes most of that cost.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Gap: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translation happens in hardware in nanoseconds, so students never see it; textbooks only show static figures.</a:t>
            </a:r>
            <a:endParaRPr lang="en-US" sz="1500" dirty="0"/>
          </a:p>
        </p:txBody>
      </p:sp>
      <p:sp>
        <p:nvSpPr>
          <p:cNvPr id="5" name="statement-card"/>
          <p:cNvSpPr/>
          <p:nvPr/>
        </p:nvSpPr>
        <p:spPr>
          <a:xfrm>
            <a:off x="548640" y="4434840"/>
            <a:ext cx="548640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5720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Problem statement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Design and implement a simulator that models virtual-to-physical translation with a TLB and page table, shows every step of each translation, and measures how TLB size and replacement policy affect hit ratio and access time.</a:t>
            </a:r>
            <a:endParaRPr lang="en-US" sz="1500" dirty="0"/>
          </a:p>
        </p:txBody>
      </p:sp>
      <p:sp>
        <p:nvSpPr>
          <p:cNvPr id="7" name="concept-frame"/>
          <p:cNvSpPr/>
          <p:nvPr/>
        </p:nvSpPr>
        <p:spPr>
          <a:xfrm>
            <a:off x="6400800" y="1371600"/>
            <a:ext cx="5239512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translation-concept" descr="translation-conce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600200"/>
            <a:ext cx="5148072" cy="221367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0" y="3951031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How a TLB hit, a TLB miss and a page fault differ</a:t>
            </a:r>
            <a:endParaRPr lang="en-US" sz="1100" dirty="0"/>
          </a:p>
        </p:txBody>
      </p:sp>
      <p:sp>
        <p:nvSpPr>
          <p:cNvPr id="10" name="cost-card"/>
          <p:cNvSpPr/>
          <p:nvPr/>
        </p:nvSpPr>
        <p:spPr>
          <a:xfrm>
            <a:off x="6400800" y="4434840"/>
            <a:ext cx="5239512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83680" y="46634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ns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5349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TLB lookup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75320" y="46634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ns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8275320" y="5349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each memory read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966960" y="46634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8000 ns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9966960" y="5349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page fault (disk)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4" name="objective-1"/>
          <p:cNvSpPr/>
          <p:nvPr/>
        </p:nvSpPr>
        <p:spPr>
          <a:xfrm>
            <a:off x="548640" y="1600200"/>
            <a:ext cx="1999427" cy="356616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-1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15422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step by step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154222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Split any VA into VPN, offset, set and tag, and build the PA at bit level</a:t>
            </a:r>
            <a:endParaRPr lang="en-US" sz="1500" dirty="0"/>
          </a:p>
        </p:txBody>
      </p:sp>
      <p:sp>
        <p:nvSpPr>
          <p:cNvPr id="9" name="objective-2"/>
          <p:cNvSpPr/>
          <p:nvPr/>
        </p:nvSpPr>
        <p:spPr>
          <a:xfrm>
            <a:off x="2822387" y="1600200"/>
            <a:ext cx="1999427" cy="356616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-2"/>
          <p:cNvSpPr/>
          <p:nvPr/>
        </p:nvSpPr>
        <p:spPr>
          <a:xfrm>
            <a:off x="3096707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96707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096707" y="2560320"/>
            <a:ext cx="15422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TLB and page table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096707" y="3566160"/>
            <a:ext cx="154222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Hits, misses, fills and evictions with six policies and three TLB layouts</a:t>
            </a:r>
            <a:endParaRPr lang="en-US" sz="1500" dirty="0"/>
          </a:p>
        </p:txBody>
      </p:sp>
      <p:sp>
        <p:nvSpPr>
          <p:cNvPr id="14" name="objective-3"/>
          <p:cNvSpPr/>
          <p:nvPr/>
        </p:nvSpPr>
        <p:spPr>
          <a:xfrm>
            <a:off x="5096134" y="1600200"/>
            <a:ext cx="1999427" cy="356616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um-3"/>
          <p:cNvSpPr/>
          <p:nvPr/>
        </p:nvSpPr>
        <p:spPr>
          <a:xfrm>
            <a:off x="5370454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70454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370454" y="2560320"/>
            <a:ext cx="15422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faults and protection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370454" y="3566160"/>
            <a:ext cx="154222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Page faults (report or demand paging) and write-protection faults</a:t>
            </a:r>
            <a:endParaRPr lang="en-US" sz="1500" dirty="0"/>
          </a:p>
        </p:txBody>
      </p:sp>
      <p:sp>
        <p:nvSpPr>
          <p:cNvPr id="19" name="objective-4"/>
          <p:cNvSpPr/>
          <p:nvPr/>
        </p:nvSpPr>
        <p:spPr>
          <a:xfrm>
            <a:off x="7369881" y="1600200"/>
            <a:ext cx="1999427" cy="356616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-4"/>
          <p:cNvSpPr/>
          <p:nvPr/>
        </p:nvSpPr>
        <p:spPr>
          <a:xfrm>
            <a:off x="7644201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44201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644201" y="2560320"/>
            <a:ext cx="15422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performance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644201" y="3566160"/>
            <a:ext cx="154222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Hit ratio and EAT: measured, textbook model and no-TLB baseline</a:t>
            </a:r>
            <a:endParaRPr lang="en-US" sz="1500" dirty="0"/>
          </a:p>
        </p:txBody>
      </p:sp>
      <p:sp>
        <p:nvSpPr>
          <p:cNvPr id="24" name="objective-5"/>
          <p:cNvSpPr/>
          <p:nvPr/>
        </p:nvSpPr>
        <p:spPr>
          <a:xfrm>
            <a:off x="9643628" y="1600200"/>
            <a:ext cx="1999427" cy="356616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-5"/>
          <p:cNvSpPr/>
          <p:nvPr/>
        </p:nvSpPr>
        <p:spPr>
          <a:xfrm>
            <a:off x="9917948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91794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917948" y="2560320"/>
            <a:ext cx="15422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and verify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917948" y="3566160"/>
            <a:ext cx="154222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All policies on one trace, Belady's anomaly, automated tests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pic>
        <p:nvPicPr>
          <p:cNvPr id="4" name="architecture-diagram" descr="architecture-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688419" cy="4892040"/>
          </a:xfrm>
          <a:prstGeom prst="rect">
            <a:avLst/>
          </a:prstGeom>
        </p:spPr>
      </p:pic>
      <p:sp>
        <p:nvSpPr>
          <p:cNvPr id="5" name="layer-1"/>
          <p:cNvSpPr/>
          <p:nvPr/>
        </p:nvSpPr>
        <p:spPr>
          <a:xfrm>
            <a:off x="6648539" y="1371600"/>
            <a:ext cx="4994517" cy="1033272"/>
          </a:xfrm>
          <a:prstGeom prst="roundRect">
            <a:avLst>
              <a:gd name="adj" fmla="val 10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um-1"/>
          <p:cNvSpPr/>
          <p:nvPr/>
        </p:nvSpPr>
        <p:spPr>
          <a:xfrm>
            <a:off x="6831419" y="16367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831419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471499" y="1481328"/>
            <a:ext cx="39886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Presentation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471499" y="1801368"/>
            <a:ext cx="39886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Ten pages, one job each: Machine, Translate, Timeline, Structures, Analytics, Policy lab, Learn, Self-test, Report</a:t>
            </a:r>
            <a:endParaRPr lang="en-US" sz="1300" dirty="0"/>
          </a:p>
        </p:txBody>
      </p:sp>
      <p:sp>
        <p:nvSpPr>
          <p:cNvPr id="10" name="layer-2"/>
          <p:cNvSpPr/>
          <p:nvPr/>
        </p:nvSpPr>
        <p:spPr>
          <a:xfrm>
            <a:off x="6648539" y="2587752"/>
            <a:ext cx="4994517" cy="1033272"/>
          </a:xfrm>
          <a:prstGeom prst="roundRect">
            <a:avLst>
              <a:gd name="adj" fmla="val 10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-2"/>
          <p:cNvSpPr/>
          <p:nvPr/>
        </p:nvSpPr>
        <p:spPr>
          <a:xfrm>
            <a:off x="6831419" y="28529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31419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471499" y="2697480"/>
            <a:ext cx="39886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Session layer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471499" y="3017520"/>
            <a:ext cx="39886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Stores every action as an operation; the state at time t = replay of operations 0 … t</a:t>
            </a:r>
            <a:endParaRPr lang="en-US" sz="1300" dirty="0"/>
          </a:p>
        </p:txBody>
      </p:sp>
      <p:sp>
        <p:nvSpPr>
          <p:cNvPr id="15" name="layer-3"/>
          <p:cNvSpPr/>
          <p:nvPr/>
        </p:nvSpPr>
        <p:spPr>
          <a:xfrm>
            <a:off x="6648539" y="3803904"/>
            <a:ext cx="4994517" cy="1033272"/>
          </a:xfrm>
          <a:prstGeom prst="roundRect">
            <a:avLst>
              <a:gd name="adj" fmla="val 10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-3"/>
          <p:cNvSpPr/>
          <p:nvPr/>
        </p:nvSpPr>
        <p:spPr>
          <a:xfrm>
            <a:off x="6831419" y="4069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31419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7471499" y="3913632"/>
            <a:ext cx="39886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Simulation engine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7471499" y="4233672"/>
            <a:ext cx="39886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Address split, TLB, page-table walk, faults, protection, statistics; no UI code</a:t>
            </a:r>
            <a:endParaRPr lang="en-US" sz="1300" dirty="0"/>
          </a:p>
        </p:txBody>
      </p:sp>
      <p:sp>
        <p:nvSpPr>
          <p:cNvPr id="20" name="layer-4"/>
          <p:cNvSpPr/>
          <p:nvPr/>
        </p:nvSpPr>
        <p:spPr>
          <a:xfrm>
            <a:off x="6648539" y="5020056"/>
            <a:ext cx="4994517" cy="1033272"/>
          </a:xfrm>
          <a:prstGeom prst="roundRect">
            <a:avLst>
              <a:gd name="adj" fmla="val 10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um-4"/>
          <p:cNvSpPr/>
          <p:nvPr/>
        </p:nvSpPr>
        <p:spPr>
          <a:xfrm>
            <a:off x="6831419" y="52852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1419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471499" y="5129784"/>
            <a:ext cx="39886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Verification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471499" y="5449824"/>
            <a:ext cx="39886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96 engine tests run in Node.js and in the browser; same logic re-implemented in Python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Flowchart: one memory access</a:t>
            </a:r>
            <a:endParaRPr lang="en-US" sz="3400" dirty="0"/>
          </a:p>
        </p:txBody>
      </p:sp>
      <p:pic>
        <p:nvPicPr>
          <p:cNvPr id="4" name="flowchart" descr="flow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3450102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5004582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00458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644662" y="1371600"/>
            <a:ext cx="5998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the address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644662" y="1682496"/>
            <a:ext cx="5998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Out-of-range input is rejected; nothing changes</a:t>
            </a:r>
            <a:endParaRPr lang="en-US" sz="1300" dirty="0"/>
          </a:p>
        </p:txBody>
      </p:sp>
      <p:sp>
        <p:nvSpPr>
          <p:cNvPr id="9" name="num-2"/>
          <p:cNvSpPr/>
          <p:nvPr/>
        </p:nvSpPr>
        <p:spPr>
          <a:xfrm>
            <a:off x="5004582" y="22219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0458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644662" y="2176272"/>
            <a:ext cx="5998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Split it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644662" y="2487168"/>
            <a:ext cx="5998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VPN = floor(VA / S), offset = VA mod S</a:t>
            </a:r>
            <a:endParaRPr lang="en-US" sz="1300" dirty="0"/>
          </a:p>
        </p:txBody>
      </p:sp>
      <p:sp>
        <p:nvSpPr>
          <p:cNvPr id="13" name="num-3"/>
          <p:cNvSpPr/>
          <p:nvPr/>
        </p:nvSpPr>
        <p:spPr>
          <a:xfrm>
            <a:off x="5004582" y="302666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04582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644662" y="2980944"/>
            <a:ext cx="5998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Search the TLB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644662" y="3291840"/>
            <a:ext cx="5998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Hit: PFN in 10 ns. Miss: walk the page table (+100 ns per level)</a:t>
            </a:r>
            <a:endParaRPr lang="en-US" sz="1300" dirty="0"/>
          </a:p>
        </p:txBody>
      </p:sp>
      <p:sp>
        <p:nvSpPr>
          <p:cNvPr id="17" name="num-4"/>
          <p:cNvSpPr/>
          <p:nvPr/>
        </p:nvSpPr>
        <p:spPr>
          <a:xfrm>
            <a:off x="5004582" y="383133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004582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644662" y="3785616"/>
            <a:ext cx="5998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Page fault?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5644662" y="4096512"/>
            <a:ext cx="5998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PTE not present: report it, or load the page and evict a frame</a:t>
            </a:r>
            <a:endParaRPr lang="en-US" sz="1300" dirty="0"/>
          </a:p>
        </p:txBody>
      </p:sp>
      <p:sp>
        <p:nvSpPr>
          <p:cNvPr id="21" name="num-5"/>
          <p:cNvSpPr/>
          <p:nvPr/>
        </p:nvSpPr>
        <p:spPr>
          <a:xfrm>
            <a:off x="5004582" y="46360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004582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5644662" y="4590288"/>
            <a:ext cx="5998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Fill the TLB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5644662" y="4901184"/>
            <a:ext cx="5998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Evict a victim chosen by FIFO, LRU, LFU, CLOCK, RANDOM or OPT</a:t>
            </a:r>
            <a:endParaRPr lang="en-US" sz="1300" dirty="0"/>
          </a:p>
        </p:txBody>
      </p:sp>
      <p:sp>
        <p:nvSpPr>
          <p:cNvPr id="25" name="num-6"/>
          <p:cNvSpPr/>
          <p:nvPr/>
        </p:nvSpPr>
        <p:spPr>
          <a:xfrm>
            <a:off x="5004582" y="5440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004582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5644662" y="5394960"/>
            <a:ext cx="5998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and finish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5644662" y="5705856"/>
            <a:ext cx="5998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Read-only page + write = protection fault; else PA = PFN × S + offset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UML: use-case and class diagrams</a:t>
            </a:r>
            <a:endParaRPr lang="en-US" sz="3400" dirty="0"/>
          </a:p>
        </p:txBody>
      </p:sp>
      <p:pic>
        <p:nvPicPr>
          <p:cNvPr id="4" name="uml-use-case" descr="uml-use-c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4773"/>
            <a:ext cx="5364328" cy="3004023"/>
          </a:xfrm>
          <a:prstGeom prst="rect">
            <a:avLst/>
          </a:prstGeom>
        </p:spPr>
      </p:pic>
      <p:pic>
        <p:nvPicPr>
          <p:cNvPr id="5" name="uml-class" descr="uml-c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600200"/>
            <a:ext cx="5364328" cy="343317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53076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Use-case diagram: Student and Teacher/Examiner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6278728" y="53076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Class diagram: Config, MMU, TLBEntry, PTE, Record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UML: sequence diagram for translating VA 300</a:t>
            </a:r>
            <a:endParaRPr lang="en-US" sz="3400" dirty="0"/>
          </a:p>
        </p:txBody>
      </p:sp>
      <p:pic>
        <p:nvPicPr>
          <p:cNvPr id="4" name="uml-sequence" descr="uml-sequ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42909" cy="4846320"/>
          </a:xfrm>
          <a:prstGeom prst="rect">
            <a:avLst/>
          </a:prstGeom>
        </p:spPr>
      </p:pic>
      <p:sp>
        <p:nvSpPr>
          <p:cNvPr id="5" name="path-1"/>
          <p:cNvSpPr/>
          <p:nvPr/>
        </p:nvSpPr>
        <p:spPr>
          <a:xfrm>
            <a:off x="8303029" y="1463040"/>
            <a:ext cx="3340026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ot-1"/>
          <p:cNvSpPr/>
          <p:nvPr/>
        </p:nvSpPr>
        <p:spPr>
          <a:xfrm>
            <a:off x="8504197" y="16642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943109" y="1618488"/>
            <a:ext cx="2517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TLB hit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943109" y="2011680"/>
            <a:ext cx="25170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TLB returns PFN 1 in 10 ns; the page table is not touched</a:t>
            </a:r>
            <a:endParaRPr lang="en-US" sz="1400" dirty="0"/>
          </a:p>
        </p:txBody>
      </p:sp>
      <p:sp>
        <p:nvSpPr>
          <p:cNvPr id="9" name="path-2"/>
          <p:cNvSpPr/>
          <p:nvPr/>
        </p:nvSpPr>
        <p:spPr>
          <a:xfrm>
            <a:off x="8303029" y="2926080"/>
            <a:ext cx="3340026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ot-2"/>
          <p:cNvSpPr/>
          <p:nvPr/>
        </p:nvSpPr>
        <p:spPr>
          <a:xfrm>
            <a:off x="8504197" y="312724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943109" y="3081528"/>
            <a:ext cx="2517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TLB miss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943109" y="3474720"/>
            <a:ext cx="25170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Walk the page table (+100 ns) and insert the translation</a:t>
            </a:r>
            <a:endParaRPr lang="en-US" sz="1400" dirty="0"/>
          </a:p>
        </p:txBody>
      </p:sp>
      <p:sp>
        <p:nvSpPr>
          <p:cNvPr id="13" name="path-3"/>
          <p:cNvSpPr/>
          <p:nvPr/>
        </p:nvSpPr>
        <p:spPr>
          <a:xfrm>
            <a:off x="8303029" y="4389120"/>
            <a:ext cx="3340026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t-3"/>
          <p:cNvSpPr/>
          <p:nvPr/>
        </p:nvSpPr>
        <p:spPr>
          <a:xfrm>
            <a:off x="8504197" y="4590288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943109" y="4544568"/>
            <a:ext cx="2517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Page fault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8943109" y="4937760"/>
            <a:ext cx="25170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PTE not present: the OS must load the page from disk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Algorithm and pseudocode</a:t>
            </a:r>
            <a:endParaRPr lang="en-US" sz="3400" dirty="0"/>
          </a:p>
        </p:txBody>
      </p:sp>
      <p:sp>
        <p:nvSpPr>
          <p:cNvPr id="4" name="code-card"/>
          <p:cNvSpPr/>
          <p:nvPr/>
        </p:nvSpPr>
        <p:spPr>
          <a:xfrm>
            <a:off x="548640" y="1325880"/>
            <a:ext cx="6583680" cy="48006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0020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ACCESS(VA, write):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VA out of range: reject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VPN &lt;- VA div S ; offset &lt;- VA mod 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cost &lt;- 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(VPN) in TLB:                 -&gt; HIT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update lastUse / uses / ref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                            -&gt; MISS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cost &lt;- cost + k*m           (page walk)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PTE not present:          -&gt; FAULT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report it, or load page + evict frame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insert into TLB (victim by policy)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write and read-only:          -&gt; PROT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 &lt;- PFN * S + offset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cost &lt;- cost + m ; record result</a:t>
            </a:r>
            <a:endParaRPr lang="en-US" sz="1600" dirty="0"/>
          </a:p>
        </p:txBody>
      </p:sp>
      <p:sp>
        <p:nvSpPr>
          <p:cNvPr id="6" name="formula-1"/>
          <p:cNvSpPr/>
          <p:nvPr/>
        </p:nvSpPr>
        <p:spPr>
          <a:xfrm>
            <a:off x="7452360" y="1325880"/>
            <a:ext cx="419069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417320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Page number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709928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VPN = floor(VA / S)</a:t>
            </a:r>
            <a:endParaRPr lang="en-US" sz="1500" dirty="0"/>
          </a:p>
        </p:txBody>
      </p:sp>
      <p:sp>
        <p:nvSpPr>
          <p:cNvPr id="9" name="formula-2"/>
          <p:cNvSpPr/>
          <p:nvPr/>
        </p:nvSpPr>
        <p:spPr>
          <a:xfrm>
            <a:off x="7452360" y="2304288"/>
            <a:ext cx="419069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2395728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Offset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2688336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= VA mod S</a:t>
            </a:r>
            <a:endParaRPr lang="en-US" sz="1500" dirty="0"/>
          </a:p>
        </p:txBody>
      </p:sp>
      <p:sp>
        <p:nvSpPr>
          <p:cNvPr id="12" name="formula-3"/>
          <p:cNvSpPr/>
          <p:nvPr/>
        </p:nvSpPr>
        <p:spPr>
          <a:xfrm>
            <a:off x="7452360" y="3282696"/>
            <a:ext cx="419069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0" y="3374136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Physical address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3666744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 = PFN × S + offset</a:t>
            </a:r>
            <a:endParaRPr lang="en-US" sz="1500" dirty="0"/>
          </a:p>
        </p:txBody>
      </p:sp>
      <p:sp>
        <p:nvSpPr>
          <p:cNvPr id="15" name="formula-4"/>
          <p:cNvSpPr/>
          <p:nvPr/>
        </p:nvSpPr>
        <p:spPr>
          <a:xfrm>
            <a:off x="7452360" y="4261104"/>
            <a:ext cx="419069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0" y="4352544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Hit / miss cost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4645152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+ m   /   t + k·m + m</a:t>
            </a:r>
            <a:endParaRPr lang="en-US" sz="1500" dirty="0"/>
          </a:p>
        </p:txBody>
      </p:sp>
      <p:sp>
        <p:nvSpPr>
          <p:cNvPr id="18" name="formula-5"/>
          <p:cNvSpPr/>
          <p:nvPr/>
        </p:nvSpPr>
        <p:spPr>
          <a:xfrm>
            <a:off x="7452360" y="5239512"/>
            <a:ext cx="419069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0" y="5330952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Effective access time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562356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h(t+m) + (1−h)(t+(k+1)m) + p·F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Implementation</a:t>
            </a:r>
            <a:endParaRPr lang="en-US" sz="3400" dirty="0"/>
          </a:p>
        </p:txBody>
      </p:sp>
      <p:sp>
        <p:nvSpPr>
          <p:cNvPr id="4" name="impl-1"/>
          <p:cNvSpPr/>
          <p:nvPr/>
        </p:nvSpPr>
        <p:spPr>
          <a:xfrm>
            <a:off x="548640" y="1325880"/>
            <a:ext cx="5364328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implementation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38528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tlb_sim.py  ·  Python 3, standard library only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156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Classes: Config, MMU, TLBEntry, PTE, Record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Six TLB policies; report or demand paging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simulate(), compare() and eat() functions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Command line: trace, policy and size options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16 unit tests in test_tlb_sim.py</a:t>
            </a:r>
            <a:endParaRPr lang="en-US" sz="1600" dirty="0"/>
          </a:p>
        </p:txBody>
      </p:sp>
      <p:sp>
        <p:nvSpPr>
          <p:cNvPr id="8" name="impl-2"/>
          <p:cNvSpPr/>
          <p:nvPr/>
        </p:nvSpPr>
        <p:spPr>
          <a:xfrm>
            <a:off x="6278728" y="1325880"/>
            <a:ext cx="5364328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53048" y="150876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web app (TLB/Scope)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53048" y="1938528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HTML5 · CSS3 · JavaScript, no back end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53048" y="2377440"/>
            <a:ext cx="48156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Ten connected pages, one job each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Bit-level view, MMU datapath, timeline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Live TLB, page table and frame views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Analytics, policy lab and printable report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96 engine tests, also run in the browser</a:t>
            </a:r>
            <a:endParaRPr lang="en-US" sz="1600" dirty="0"/>
          </a:p>
        </p:txBody>
      </p:sp>
      <p:sp>
        <p:nvSpPr>
          <p:cNvPr id="12" name="run-card"/>
          <p:cNvSpPr/>
          <p:nvPr/>
        </p:nvSpPr>
        <p:spPr>
          <a:xfrm>
            <a:off x="548640" y="480060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How to run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2578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tlb_sim.py --trace "300 300 0x1A2B 300:W" --policy LRU --entries 4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http.server 5173 --directory tlb-simulator     # then open localhost:5173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Screenshots: translating addresses</a:t>
            </a:r>
            <a:endParaRPr lang="en-US" sz="3400" dirty="0"/>
          </a:p>
        </p:txBody>
      </p:sp>
      <p:pic>
        <p:nvPicPr>
          <p:cNvPr id="4" name="translate-screenshot" descr="translate-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364328" cy="35203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07482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Translate: VA 300 → PA 300, TLB hit, 110 ns</a:t>
            </a:r>
            <a:endParaRPr lang="en-US" sz="1100" dirty="0"/>
          </a:p>
        </p:txBody>
      </p:sp>
      <p:pic>
        <p:nvPicPr>
          <p:cNvPr id="6" name="timeline-screenshot" descr="timeline-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417320"/>
            <a:ext cx="5364328" cy="350171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278728" y="5056194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Timeline: hit/miss lanes and the event table</a:t>
            </a:r>
            <a:endParaRPr lang="en-US" sz="1100" dirty="0"/>
          </a:p>
        </p:txBody>
      </p:sp>
      <p:sp>
        <p:nvSpPr>
          <p:cNvPr id="8" name="takeaway-card"/>
          <p:cNvSpPr/>
          <p:nvPr/>
        </p:nvSpPr>
        <p:spPr>
          <a:xfrm>
            <a:off x="548640" y="5513394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22960" y="5513394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What it shows: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 300 = page 1 + offset 44 → frame 1 → PA 300. The first access misses (210 ns); every repeat hits (110 ns).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Screenshots: inside the machine and performance</a:t>
            </a:r>
            <a:endParaRPr lang="en-US" sz="3400" dirty="0"/>
          </a:p>
        </p:txBody>
      </p:sp>
      <p:pic>
        <p:nvPicPr>
          <p:cNvPr id="4" name="analytics-screenshot" descr="analytics-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64328" cy="316644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647771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Analytics: indicators, hit-ratio chart, EAT calculator</a:t>
            </a:r>
            <a:endParaRPr lang="en-US" sz="1100" dirty="0"/>
          </a:p>
        </p:txBody>
      </p:sp>
      <p:pic>
        <p:nvPicPr>
          <p:cNvPr id="6" name="structures-screenshot" descr="structures-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371600"/>
            <a:ext cx="5364328" cy="197437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278728" y="3419123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Structures: TLB ways, page table, frames</a:t>
            </a:r>
            <a:endParaRPr lang="en-US" sz="1100" dirty="0"/>
          </a:p>
        </p:txBody>
      </p:sp>
      <p:pic>
        <p:nvPicPr>
          <p:cNvPr id="8" name="lab-screenshot" descr="lab-screens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3848891"/>
            <a:ext cx="5364328" cy="214200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278728" y="606404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Policy lab: six policies on Belady's string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Python implementation output</a:t>
            </a:r>
            <a:endParaRPr lang="en-US" sz="3400" dirty="0"/>
          </a:p>
        </p:txBody>
      </p:sp>
      <p:pic>
        <p:nvPicPr>
          <p:cNvPr id="4" name="python-output" descr="python-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84431" cy="4846320"/>
          </a:xfrm>
          <a:prstGeom prst="rect">
            <a:avLst/>
          </a:prstGeom>
        </p:spPr>
      </p:pic>
      <p:sp>
        <p:nvSpPr>
          <p:cNvPr id="5" name="py-note-1"/>
          <p:cNvSpPr/>
          <p:nvPr/>
        </p:nvSpPr>
        <p:spPr>
          <a:xfrm>
            <a:off x="7044551" y="1371600"/>
            <a:ext cx="4598504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273151" y="1481328"/>
            <a:ext cx="4141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T1 → T2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273151" y="1828800"/>
            <a:ext cx="4141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 300: MISS (210 ns), then HIT (110 ns)</a:t>
            </a:r>
            <a:endParaRPr lang="en-US" sz="1400" dirty="0"/>
          </a:p>
        </p:txBody>
      </p:sp>
      <p:sp>
        <p:nvSpPr>
          <p:cNvPr id="8" name="py-note-2"/>
          <p:cNvSpPr/>
          <p:nvPr/>
        </p:nvSpPr>
        <p:spPr>
          <a:xfrm>
            <a:off x="7044551" y="2560320"/>
            <a:ext cx="4598504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73151" y="2670048"/>
            <a:ext cx="4141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T5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273151" y="3017520"/>
            <a:ext cx="4141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0x1A2B → page 26 not in memory: FAULT</a:t>
            </a:r>
            <a:endParaRPr lang="en-US" sz="1400" dirty="0"/>
          </a:p>
        </p:txBody>
      </p:sp>
      <p:sp>
        <p:nvSpPr>
          <p:cNvPr id="11" name="py-note-3"/>
          <p:cNvSpPr/>
          <p:nvPr/>
        </p:nvSpPr>
        <p:spPr>
          <a:xfrm>
            <a:off x="7044551" y="3749040"/>
            <a:ext cx="4598504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273151" y="3858768"/>
            <a:ext cx="4141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T9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273151" y="4206240"/>
            <a:ext cx="4141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TLB full: LRU evicts page 4 (unused since T4)</a:t>
            </a:r>
            <a:endParaRPr lang="en-US" sz="1400" dirty="0"/>
          </a:p>
        </p:txBody>
      </p:sp>
      <p:sp>
        <p:nvSpPr>
          <p:cNvPr id="14" name="py-note-4"/>
          <p:cNvSpPr/>
          <p:nvPr/>
        </p:nvSpPr>
        <p:spPr>
          <a:xfrm>
            <a:off x="7044551" y="4937760"/>
            <a:ext cx="4598504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3151" y="5047488"/>
            <a:ext cx="4141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Summary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273151" y="5394960"/>
            <a:ext cx="4141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5 hits, 6 misses, 1 fault; 45.5 % hit ratio; 155.45 ns average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Results</a:t>
            </a:r>
            <a:endParaRPr lang="en-US" sz="3400" dirty="0"/>
          </a:p>
        </p:txBody>
      </p:sp>
      <p:sp>
        <p:nvSpPr>
          <p:cNvPr id="4" name="stat-1"/>
          <p:cNvSpPr/>
          <p:nvPr/>
        </p:nvSpPr>
        <p:spPr>
          <a:xfrm>
            <a:off x="548640" y="1325880"/>
            <a:ext cx="256786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 ns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TLB hit (vs 210 ns miss)</a:t>
            </a:r>
            <a:endParaRPr lang="en-US" sz="1300" dirty="0"/>
          </a:p>
        </p:txBody>
      </p:sp>
      <p:sp>
        <p:nvSpPr>
          <p:cNvPr id="7" name="stat-2"/>
          <p:cNvSpPr/>
          <p:nvPr/>
        </p:nvSpPr>
        <p:spPr>
          <a:xfrm>
            <a:off x="3390824" y="1325880"/>
            <a:ext cx="256786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19424" y="14173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45.5 %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3619424" y="21945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hit ratio of the 11-access trace</a:t>
            </a:r>
            <a:endParaRPr lang="en-US" sz="1300" dirty="0"/>
          </a:p>
        </p:txBody>
      </p:sp>
      <p:sp>
        <p:nvSpPr>
          <p:cNvPr id="10" name="stat-3"/>
          <p:cNvSpPr/>
          <p:nvPr/>
        </p:nvSpPr>
        <p:spPr>
          <a:xfrm>
            <a:off x="6233008" y="1325880"/>
            <a:ext cx="256786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1608" y="14173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 ns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6461608" y="21945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measured average (vs 200 ns, no TLB)</a:t>
            </a:r>
            <a:endParaRPr lang="en-US" sz="1300" dirty="0"/>
          </a:p>
        </p:txBody>
      </p:sp>
      <p:sp>
        <p:nvSpPr>
          <p:cNvPr id="13" name="stat-4"/>
          <p:cNvSpPr/>
          <p:nvPr/>
        </p:nvSpPr>
        <p:spPr>
          <a:xfrm>
            <a:off x="9075191" y="1325880"/>
            <a:ext cx="256786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03791" y="14173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 ns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9303791" y="21945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textbook EAT at h = 0.8</a:t>
            </a:r>
            <a:endParaRPr lang="en-US" sz="1300" dirty="0"/>
          </a:p>
        </p:txBody>
      </p:sp>
      <p:graphicFrame>
        <p:nvGraphicFramePr>
          <p:cNvPr id="16" name="belady-chart" descr=""/>
          <p:cNvGraphicFramePr/>
          <p:nvPr/>
        </p:nvGraphicFramePr>
        <p:xfrm>
          <a:off x="548640" y="2971800"/>
          <a:ext cx="7315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belady-card"/>
          <p:cNvSpPr/>
          <p:nvPr/>
        </p:nvSpPr>
        <p:spPr>
          <a:xfrm>
            <a:off x="8138160" y="2971800"/>
            <a:ext cx="3504895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66760" y="3154680"/>
            <a:ext cx="304769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Belady's anomaly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FIFO: 3 entries → 9 misses, 4 entries → 10 misses. A bigger TLB did worse.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LRU and OPT are stack algorithms, so more entries never hurt them. OPT is always the best.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Testing and validation</a:t>
            </a:r>
            <a:endParaRPr lang="en-US" sz="3400" dirty="0"/>
          </a:p>
        </p:txBody>
      </p:sp>
      <p:sp>
        <p:nvSpPr>
          <p:cNvPr id="4" name="test-stat-1"/>
          <p:cNvSpPr/>
          <p:nvPr/>
        </p:nvSpPr>
        <p:spPr>
          <a:xfrm>
            <a:off x="548640" y="132588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4173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7627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Python unit tests pass</a:t>
            </a:r>
            <a:endParaRPr lang="en-US" sz="1400" dirty="0"/>
          </a:p>
        </p:txBody>
      </p:sp>
      <p:sp>
        <p:nvSpPr>
          <p:cNvPr id="7" name="test-stat-2"/>
          <p:cNvSpPr/>
          <p:nvPr/>
        </p:nvSpPr>
        <p:spPr>
          <a:xfrm>
            <a:off x="4338218" y="132588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2538" y="14173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/ 96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612538" y="217627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JavaScript engine tests pass (38 edge cases)</a:t>
            </a:r>
            <a:endParaRPr lang="en-US" sz="1400" dirty="0"/>
          </a:p>
        </p:txBody>
      </p:sp>
      <p:sp>
        <p:nvSpPr>
          <p:cNvPr id="10" name="test-stat-3"/>
          <p:cNvSpPr/>
          <p:nvPr/>
        </p:nvSpPr>
        <p:spPr>
          <a:xfrm>
            <a:off x="8127797" y="132588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02117" y="14173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402117" y="217627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Python and web outputs match</a:t>
            </a:r>
            <a:endParaRPr lang="en-US" sz="1400" dirty="0"/>
          </a:p>
        </p:txBody>
      </p:sp>
      <p:graphicFrame>
        <p:nvGraphicFramePr>
          <p:cNvPr id="15" name="tes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766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9144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Expected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VA 300 twice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MISS 210 ns, then HIT 110 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FIFO, 3 entries, 1 2 3 1 4 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M M M H M 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Belady's string, FIFO 3 vs 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9 vs 10 misses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Write to read-only page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PROT, no physical address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Address 65536 on 16-bit VA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Rejected, state unchanged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EAT, h = 0.8, t = 10, m = 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130 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</a:tbl>
          </a:graphicData>
        </a:graphic>
      </p:graphicFrame>
      <p:sp>
        <p:nvSpPr>
          <p:cNvPr id="14" name="method-card"/>
          <p:cNvSpPr/>
          <p:nvPr/>
        </p:nvSpPr>
        <p:spPr>
          <a:xfrm>
            <a:off x="7680960" y="2926080"/>
            <a:ext cx="3962095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909560" y="3108960"/>
            <a:ext cx="3504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How we validated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Expected values from hand calculation and textbooks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Same inputs run in Python and the web app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Invariant checks after every access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Planted bugs to prove the tests catch them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Live demo plan</a:t>
            </a:r>
            <a:endParaRPr lang="en-US" sz="3400" dirty="0"/>
          </a:p>
        </p:txBody>
      </p:sp>
      <p:sp>
        <p:nvSpPr>
          <p:cNvPr id="4" name="demo-1"/>
          <p:cNvSpPr/>
          <p:nvPr/>
        </p:nvSpPr>
        <p:spPr>
          <a:xfrm>
            <a:off x="548640" y="1463040"/>
            <a:ext cx="1658569" cy="338328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-1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12470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Machine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124708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Factory reset; default 16-bit machine, 4-entry LRU TLB</a:t>
            </a:r>
            <a:endParaRPr lang="en-US" sz="1400" dirty="0"/>
          </a:p>
        </p:txBody>
      </p:sp>
      <p:sp>
        <p:nvSpPr>
          <p:cNvPr id="9" name="demo-2"/>
          <p:cNvSpPr/>
          <p:nvPr/>
        </p:nvSpPr>
        <p:spPr>
          <a:xfrm>
            <a:off x="2435809" y="1463040"/>
            <a:ext cx="1658569" cy="338328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-2"/>
          <p:cNvSpPr/>
          <p:nvPr/>
        </p:nvSpPr>
        <p:spPr>
          <a:xfrm>
            <a:off x="2664409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64409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664409" y="2377440"/>
            <a:ext cx="12470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Translate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2664409" y="2834640"/>
            <a:ext cx="124708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300 → MISS 210 ns, then 300 → HIT 110 ns, then 0x1A2B → FAULT</a:t>
            </a:r>
            <a:endParaRPr lang="en-US" sz="1400" dirty="0"/>
          </a:p>
        </p:txBody>
      </p:sp>
      <p:sp>
        <p:nvSpPr>
          <p:cNvPr id="14" name="demo-3"/>
          <p:cNvSpPr/>
          <p:nvPr/>
        </p:nvSpPr>
        <p:spPr>
          <a:xfrm>
            <a:off x="4322978" y="1463040"/>
            <a:ext cx="1658569" cy="338328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um-3"/>
          <p:cNvSpPr/>
          <p:nvPr/>
        </p:nvSpPr>
        <p:spPr>
          <a:xfrm>
            <a:off x="4551578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5157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551578" y="2377440"/>
            <a:ext cx="12470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Timeline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551578" y="2834640"/>
            <a:ext cx="124708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Run 0 256 512 768 0 300:W; watch LRU evict page 4</a:t>
            </a:r>
            <a:endParaRPr lang="en-US" sz="1400" dirty="0"/>
          </a:p>
        </p:txBody>
      </p:sp>
      <p:sp>
        <p:nvSpPr>
          <p:cNvPr id="19" name="demo-4"/>
          <p:cNvSpPr/>
          <p:nvPr/>
        </p:nvSpPr>
        <p:spPr>
          <a:xfrm>
            <a:off x="6210148" y="1463040"/>
            <a:ext cx="1658569" cy="338328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-4"/>
          <p:cNvSpPr/>
          <p:nvPr/>
        </p:nvSpPr>
        <p:spPr>
          <a:xfrm>
            <a:off x="6438748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3874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438748" y="2377440"/>
            <a:ext cx="12470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Analytics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6438748" y="2834640"/>
            <a:ext cx="124708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45.5 % hit ratio; 155 ns measured vs 200 ns with no TLB</a:t>
            </a:r>
            <a:endParaRPr lang="en-US" sz="1400" dirty="0"/>
          </a:p>
        </p:txBody>
      </p:sp>
      <p:sp>
        <p:nvSpPr>
          <p:cNvPr id="24" name="demo-5"/>
          <p:cNvSpPr/>
          <p:nvPr/>
        </p:nvSpPr>
        <p:spPr>
          <a:xfrm>
            <a:off x="8097317" y="1463040"/>
            <a:ext cx="1658569" cy="338328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-5"/>
          <p:cNvSpPr/>
          <p:nvPr/>
        </p:nvSpPr>
        <p:spPr>
          <a:xfrm>
            <a:off x="8325917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25917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325917" y="2377440"/>
            <a:ext cx="12470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Policy lab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8325917" y="2834640"/>
            <a:ext cx="124708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Belady's string: FIFO gets worse at 4 entries</a:t>
            </a:r>
            <a:endParaRPr lang="en-US" sz="1400" dirty="0"/>
          </a:p>
        </p:txBody>
      </p:sp>
      <p:sp>
        <p:nvSpPr>
          <p:cNvPr id="29" name="demo-6"/>
          <p:cNvSpPr/>
          <p:nvPr/>
        </p:nvSpPr>
        <p:spPr>
          <a:xfrm>
            <a:off x="9984486" y="1463040"/>
            <a:ext cx="1658569" cy="338328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num-6"/>
          <p:cNvSpPr/>
          <p:nvPr/>
        </p:nvSpPr>
        <p:spPr>
          <a:xfrm>
            <a:off x="10213086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21308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10213086" y="2377440"/>
            <a:ext cx="12470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Self-test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10213086" y="2834640"/>
            <a:ext cx="124708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96 / 96 tests pass live in the browser</a:t>
            </a:r>
            <a:endParaRPr lang="en-US" sz="1400" dirty="0"/>
          </a:p>
        </p:txBody>
      </p:sp>
      <p:sp>
        <p:nvSpPr>
          <p:cNvPr id="34" name="start-card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257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Start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55778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http.server 5173 --directory tlb-simulator   →   http://localhost:5173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and future enhancements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760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D4BF"/>
                </a:solidFill>
              </a:rPr>
              <a:t>What we achieved</a:t>
            </a:r>
            <a:endParaRPr lang="en-US" sz="15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Every translation shown step by step, from bits to physical address</a:t>
            </a:r>
            <a:endParaRPr lang="en-US" sz="15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Six replacement policies, three TLB layouts, faults and protection</a:t>
            </a:r>
            <a:endParaRPr lang="en-US" sz="15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A hit costs 110 ns instead of 210 ns; at 80 % hits the average drops from 200 to 130 ns</a:t>
            </a:r>
            <a:endParaRPr lang="en-US" sz="15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Belady's anomaly reproduced; LRU and OPT never get worse</a:t>
            </a:r>
            <a:endParaRPr lang="en-US" sz="15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Python and web versions agree; 16 + 96 tests pass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720840" y="1554480"/>
            <a:ext cx="4922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Future enhancements</a:t>
            </a:r>
            <a:endParaRPr lang="en-US" sz="1800" dirty="0"/>
          </a:p>
        </p:txBody>
      </p:sp>
      <p:sp>
        <p:nvSpPr>
          <p:cNvPr id="6" name="future-1"/>
          <p:cNvSpPr/>
          <p:nvPr/>
        </p:nvSpPr>
        <p:spPr>
          <a:xfrm>
            <a:off x="6720840" y="2103120"/>
            <a:ext cx="2346808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03720" y="2103120"/>
            <a:ext cx="198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Huge pages (2 MiB / 1 GiB)</a:t>
            </a:r>
            <a:endParaRPr lang="en-US" sz="1400" dirty="0"/>
          </a:p>
        </p:txBody>
      </p:sp>
      <p:sp>
        <p:nvSpPr>
          <p:cNvPr id="8" name="future-2"/>
          <p:cNvSpPr/>
          <p:nvPr/>
        </p:nvSpPr>
        <p:spPr>
          <a:xfrm>
            <a:off x="9296248" y="2103120"/>
            <a:ext cx="2346808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79128" y="2103120"/>
            <a:ext cx="198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Two-level TLB (L1 + L2)</a:t>
            </a:r>
            <a:endParaRPr lang="en-US" sz="1400" dirty="0"/>
          </a:p>
        </p:txBody>
      </p:sp>
      <p:sp>
        <p:nvSpPr>
          <p:cNvPr id="10" name="future-3"/>
          <p:cNvSpPr/>
          <p:nvPr/>
        </p:nvSpPr>
        <p:spPr>
          <a:xfrm>
            <a:off x="6720840" y="3063240"/>
            <a:ext cx="2346808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03720" y="3063240"/>
            <a:ext cx="198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Page-walk caches</a:t>
            </a:r>
            <a:endParaRPr lang="en-US" sz="1400" dirty="0"/>
          </a:p>
        </p:txBody>
      </p:sp>
      <p:sp>
        <p:nvSpPr>
          <p:cNvPr id="12" name="future-4"/>
          <p:cNvSpPr/>
          <p:nvPr/>
        </p:nvSpPr>
        <p:spPr>
          <a:xfrm>
            <a:off x="9296248" y="3063240"/>
            <a:ext cx="2346808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479128" y="3063240"/>
            <a:ext cx="198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Multi-core TLB shootdowns</a:t>
            </a:r>
            <a:endParaRPr lang="en-US" sz="1400" dirty="0"/>
          </a:p>
        </p:txBody>
      </p:sp>
      <p:sp>
        <p:nvSpPr>
          <p:cNvPr id="14" name="future-5"/>
          <p:cNvSpPr/>
          <p:nvPr/>
        </p:nvSpPr>
        <p:spPr>
          <a:xfrm>
            <a:off x="6720840" y="4023360"/>
            <a:ext cx="2346808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03720" y="4023360"/>
            <a:ext cx="198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Inverted / hashed page tables</a:t>
            </a:r>
            <a:endParaRPr lang="en-US" sz="1400" dirty="0"/>
          </a:p>
        </p:txBody>
      </p:sp>
      <p:sp>
        <p:nvSpPr>
          <p:cNvPr id="16" name="future-6"/>
          <p:cNvSpPr/>
          <p:nvPr/>
        </p:nvSpPr>
        <p:spPr>
          <a:xfrm>
            <a:off x="9296248" y="4023360"/>
            <a:ext cx="2346808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479128" y="4023360"/>
            <a:ext cx="198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Real program traces</a:t>
            </a:r>
            <a:endParaRPr lang="en-US" sz="1400" dirty="0"/>
          </a:p>
        </p:txBody>
      </p:sp>
      <p:sp>
        <p:nvSpPr>
          <p:cNvPr id="18" name="future-7"/>
          <p:cNvSpPr/>
          <p:nvPr/>
        </p:nvSpPr>
        <p:spPr>
          <a:xfrm>
            <a:off x="6720840" y="4983480"/>
            <a:ext cx="2346808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03720" y="4983480"/>
            <a:ext cx="198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Nested paging for VMs</a:t>
            </a:r>
            <a:endParaRPr lang="en-US" sz="1400" dirty="0"/>
          </a:p>
        </p:txBody>
      </p:sp>
      <p:sp>
        <p:nvSpPr>
          <p:cNvPr id="20" name="future-8"/>
          <p:cNvSpPr/>
          <p:nvPr/>
        </p:nvSpPr>
        <p:spPr>
          <a:xfrm>
            <a:off x="9296248" y="4983480"/>
            <a:ext cx="2346808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479128" y="4983480"/>
            <a:ext cx="198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Quiz mode with grading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4" name="refs-card"/>
          <p:cNvSpPr/>
          <p:nvPr/>
        </p:nvSpPr>
        <p:spPr>
          <a:xfrm>
            <a:off x="548640" y="1325880"/>
            <a:ext cx="11094415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554480"/>
            <a:ext cx="10454335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[1]  A. Silberschatz, P. B. Galvin, G. Gagne, Operating System Concepts, 10th ed., Wiley, 2018.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[2]  R. H. and A. C. Arpaci-Dusseau, Operating Systems: Three Easy Pieces, 2018. pages.cs.wisc.edu/~remzi/OSTEP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[3]  A. S. Tanenbaum, H. Bos, Modern Operating Systems, 4th ed., Pearson, 2015.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[4]  J. L. Hennessy, D. A. Patterson, Computer Architecture: A Quantitative Approach, 6th ed., 2017.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[5]  L. A. Belady, "A study of replacement algorithms for a virtual-storage computer," IBM Systems Journal 5(2), 1966.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[6]  A. Bhattacharjee, D. Lustig, Architectural and Operating System Support for Virtual Memory, 2017.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[7]  Python Software Foundation, The Python Standard Library. docs.python.org/3/library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[8]  Mozilla, MDN Web Docs (HTML, CSS, JavaScript). developer.mozilla.org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[9]  Object Management Group, UML Specification 2.5.1, 2017.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D8D4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 V Sai Likith  ·  M V S Sujan  ·  Shrijit  ·  Rajnihil</a:t>
            </a:r>
            <a:endParaRPr lang="en-US" sz="1600" dirty="0"/>
          </a:p>
        </p:txBody>
      </p:sp>
      <p:sp>
        <p:nvSpPr>
          <p:cNvPr id="5" name="final-stat"/>
          <p:cNvSpPr/>
          <p:nvPr/>
        </p:nvSpPr>
        <p:spPr>
          <a:xfrm>
            <a:off x="7909560" y="192024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83880" y="19202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 → 110 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repeated access, thanks to the TLB</a:t>
            </a:r>
            <a:endParaRPr lang="en-US" sz="15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36576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LB Scope">
  <a:themeElements>
    <a:clrScheme name="TLB Scope">
      <a:dk1>
        <a:srgbClr val="0B1320"/>
      </a:dk1>
      <a:lt1>
        <a:srgbClr val="FFFFFF"/>
      </a:lt1>
      <a:dk2>
        <a:srgbClr val="334155"/>
      </a:dk2>
      <a:lt2>
        <a:srgbClr val="EAF4F3"/>
      </a:lt2>
      <a:accent1>
        <a:srgbClr val="0D9488"/>
      </a:accent1>
      <a:accent2>
        <a:srgbClr val="D97706"/>
      </a:accent2>
      <a:accent3>
        <a:srgbClr val="DC2626"/>
      </a:accent3>
      <a:accent4>
        <a:srgbClr val="2563EB"/>
      </a:accent4>
      <a:accent5>
        <a:srgbClr val="7C3AED"/>
      </a:accent5>
      <a:accent6>
        <a:srgbClr val="64748B"/>
      </a:accent6>
      <a:hlink>
        <a:srgbClr val="0D9488"/>
      </a:hlink>
      <a:folHlink>
        <a:srgbClr val="7C3AED"/>
      </a:folHlink>
    </a:clrScheme>
    <a:fontScheme name="TLB Scop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TLB Address Translation Simulator</dc:title>
  <dc:subject>PptxGenJS Presentation</dc:subject>
  <dc:creator>P V Sai Likith, M V S Sujan, Shrijit, Rajnihil</dc:creator>
  <cp:lastModifiedBy>P V Sai Likith, M V S Sujan, Shrijit, Rajnihil</cp:lastModifiedBy>
  <cp:revision>1</cp:revision>
  <dcterms:created xsi:type="dcterms:W3CDTF">2026-10-21T13:11:50Z</dcterms:created>
  <dcterms:modified xsi:type="dcterms:W3CDTF">2026-10-21T13:11:50Z</dcterms:modified>
</cp:coreProperties>
</file>